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Model Merging SAE Checkpoint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300"/>
            </a:pPr>
            <a:r>
              <a:t>GemmaScope MLP feature subsets for refusal repair, 2026-05-22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Plain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Model merging here means moving behavior from a donor/base model into an abliterated recipient by patching internal activations.</a:t>
            </a:r>
          </a:p>
          <a:p>
            <a:pPr>
              <a:defRPr sz="2200"/>
            </a:pPr>
            <a:r>
              <a:t>An SAE is a sparse autoencoder: it rewrites an activation as many mostly-zero feature coordinates, then decodes them back.</a:t>
            </a:r>
          </a:p>
          <a:p>
            <a:pPr>
              <a:defRPr sz="2200"/>
            </a:pPr>
            <a:r>
              <a:t>The key question is whether specific SAE coordinates explain the repair, or whether only the full dense reconstruction 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Claim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Target models: google/gemma-2-2b-it donor and IlyaGusev/gemma-2-2b-it-abliterated recipient.</a:t>
            </a:r>
          </a:p>
          <a:p>
            <a:pPr>
              <a:defRPr sz="2200"/>
            </a:pPr>
            <a:r>
              <a:t>Patch site: normalized post-feedforward MLP update over layers 12-20.</a:t>
            </a:r>
          </a:p>
          <a:p>
            <a:pPr>
              <a:defRPr sz="2200"/>
            </a:pPr>
            <a:r>
              <a:t>Selector: top SAE coordinates by harmful donor-recipient activation delta.</a:t>
            </a:r>
          </a:p>
          <a:p>
            <a:pPr>
              <a:defRPr sz="2200"/>
            </a:pPr>
            <a:r>
              <a:t>Control: same-size random active SAE coordinates.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Heldout Results</a:t>
            </a:r>
          </a:p>
        </p:txBody>
      </p:sp>
      <p:pic>
        <p:nvPicPr>
          <p:cNvPr id="3" name="Picture 2" descr="heldout_feature_subset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34440"/>
            <a:ext cx="10881360" cy="39380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Positive signal: top-delta SAE coordinates beat matched random controls on heldout prompts.</a:t>
            </a:r>
          </a:p>
          <a:p>
            <a:pPr>
              <a:defRPr sz="2200"/>
            </a:pPr>
            <a:r>
              <a:t>Not complete: k1024 per layer still fails one heldout harmful family on prompts 8-11.</a:t>
            </a:r>
          </a:p>
          <a:p>
            <a:pPr>
              <a:defRPr sz="2200"/>
            </a:pPr>
            <a:r>
              <a:t>Best current wording: feature-coordinate causal evidence, not yet a human-interpretable mechanism.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Localize the feature repair by layer group instead of patching all layers 12-20.</a:t>
            </a:r>
          </a:p>
          <a:p>
            <a:pPr>
              <a:defRPr sz="2200"/>
            </a:pPr>
            <a:r>
              <a:t>Repeat random controls across seeds at k1024 and k2048.</a:t>
            </a:r>
          </a:p>
          <a:p>
            <a:pPr>
              <a:defRPr sz="2200"/>
            </a:pPr>
            <a:r>
              <a:t>Export feature IDs, activation deltas, and top activating snippets for interpretability audit.</a:t>
            </a:r>
          </a:p>
          <a:p>
            <a:pPr>
              <a:defRPr sz="2200"/>
            </a:pPr>
            <a:r>
              <a:t>Stratify failures by prompt family to learn why the exam-answer case is still weak.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 Evidence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/>
            </a:pPr>
            <a:r>
              <a:t>stage3/results/GEMMA2_2B_GEMMASCOPE_MLP_SAE_FEATURE_SUBSET_FINDINGS.md</a:t>
            </a:r>
          </a:p>
          <a:p>
            <a:pPr>
              <a:defRPr sz="2200"/>
            </a:pPr>
            <a:r>
              <a:t>stage3/results/gemma2_2b_gemmascope_mlp_sae_feature_subsets_12_20_heldout_k_sweep_v0/</a:t>
            </a:r>
          </a:p>
          <a:p>
            <a:pPr>
              <a:defRPr sz="2200"/>
            </a:pPr>
            <a:r>
              <a:t>stage3/results/gemma2_2b_gemmascope_mlp_sae_feature_subsets_12_20_heldout_fold2_v0/</a:t>
            </a:r>
          </a:p>
          <a:p>
            <a:pPr>
              <a:defRPr sz="2200"/>
            </a:pPr>
            <a:r>
              <a:t>stage3/scripts/run_gemma2_2b_gemmascope_mlp_sae_feature_subsets.py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