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GemmaScope boundary-vs-content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5A5A"/>
                </a:solidFill>
              </a:defRPr>
            </a:pPr>
            <a:r>
              <a:t>Model-merging SAE project, 2026-05-22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Question: are the successful sparse SAE patches content semantics, or response-start state?</a:t>
            </a:r>
          </a:p>
          <a:p>
            <a:pPr>
              <a:spcAft>
                <a:spcPts val="900"/>
              </a:spcAft>
              <a:defRPr sz="1800"/>
            </a:pPr>
            <a:r>
              <a:t>Short answer: current evidence points to response-boundary refusal-state transfer.</a:t>
            </a:r>
          </a:p>
          <a:p>
            <a:pPr>
              <a:spcAft>
                <a:spcPts val="900"/>
              </a:spcAft>
              <a:defRPr sz="1800"/>
            </a:pPr>
            <a:r>
              <a:t>This is a reframe, not a dead end: it gives a sharper causal test for the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Source package: presentations/2026-05-22-1525-gemmascope-boundary-content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Plain-language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Model merging: combine two or more trained model weight sets without retraining on all original data.</a:t>
            </a:r>
          </a:p>
          <a:p>
            <a:pPr>
              <a:spcAft>
                <a:spcPts val="900"/>
              </a:spcAft>
              <a:defRPr sz="1800"/>
            </a:pPr>
            <a:r>
              <a:t>Our pair: a normal Gemma-2-2B-it donor and an abliterated Gemma-2-2B-it recipient.</a:t>
            </a:r>
          </a:p>
          <a:p>
            <a:pPr>
              <a:spcAft>
                <a:spcPts val="900"/>
              </a:spcAft>
              <a:defRPr sz="1800"/>
            </a:pPr>
            <a:r>
              <a:t>Patch test: temporarily replace selected internal recipient activations with donor-like SAE reconstructions.</a:t>
            </a:r>
          </a:p>
          <a:p>
            <a:pPr>
              <a:spcAft>
                <a:spcPts val="900"/>
              </a:spcAft>
              <a:defRPr sz="1800"/>
            </a:pPr>
            <a:r>
              <a:t>SAE feature: a sparse coordinate in a learned dictionary; useful only if it explains or controls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Terms are simplified for decision-making; exact artifacts are listed on the provenance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Where this fits in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Known: full donor post-FF patch over layers 12-20 repairs harmful refusal while keeping benign helpfulness.</a:t>
            </a:r>
          </a:p>
          <a:p>
            <a:pPr>
              <a:spcAft>
                <a:spcPts val="900"/>
              </a:spcAft>
              <a:defRPr sz="1800"/>
            </a:pPr>
            <a:r>
              <a:t>Known: full decoded GemmaScope MLP-SAE patch over 12-20 also repairs behavior.</a:t>
            </a:r>
          </a:p>
          <a:p>
            <a:pPr>
              <a:spcAft>
                <a:spcPts val="900"/>
              </a:spcAft>
              <a:defRPr sz="1800"/>
            </a:pPr>
            <a:r>
              <a:t>Recent: top-delta feature subsets beat random active-feature controls, especially all 12-20 and 15-20.</a:t>
            </a:r>
          </a:p>
          <a:p>
            <a:pPr>
              <a:spcAft>
                <a:spcPts val="900"/>
              </a:spcAft>
              <a:defRPr sz="1800"/>
            </a:pPr>
            <a:r>
              <a:t>New: the top-delta events mostly occur at the assistant response boundary, not ordinary prompt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This changes the proposed mechanism we should test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Main quantitative comparison</a:t>
            </a:r>
          </a:p>
        </p:txBody>
      </p:sp>
      <p:pic>
        <p:nvPicPr>
          <p:cNvPr id="3" name="Picture 2" descr="all_vs_content_harmfu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15568"/>
            <a:ext cx="11018520" cy="5410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73952"/>
            <a:ext cx="11064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Y-axis: harmful clean refusal rate on heldout prompts; higher is better.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Event audit</a:t>
            </a:r>
          </a:p>
        </p:txBody>
      </p:sp>
      <p:pic>
        <p:nvPicPr>
          <p:cNvPr id="3" name="Picture 2" descr="event_category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760720" cy="3249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9400" y="1572768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All-token audit: 2817 / 2880 top abs-delta rows are boundary/template tokens.</a:t>
            </a:r>
          </a:p>
          <a:p>
            <a:pPr>
              <a:spcAft>
                <a:spcPts val="900"/>
              </a:spcAft>
              <a:defRPr sz="1800"/>
            </a:pPr>
            <a:r>
              <a:t>Most frequent top tokens: \\n, model, &lt;end_of_turn&gt;, &lt;start_of_turn&gt;, ..</a:t>
            </a:r>
          </a:p>
          <a:p>
            <a:pPr>
              <a:spcAft>
                <a:spcPts val="900"/>
              </a:spcAft>
              <a:defRPr sz="1800"/>
            </a:pPr>
            <a:r>
              <a:t>Content-selected features activate on harmful words, but the causal repair mostly disappears.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Boundary means role/special/newline tokens around the assistant response start.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Result: strongest sparse repair is not yet a clean harmful-content semantic feature story.</a:t>
            </a:r>
          </a:p>
          <a:p>
            <a:pPr>
              <a:spcAft>
                <a:spcPts val="900"/>
              </a:spcAft>
              <a:defRPr sz="1800"/>
            </a:pPr>
            <a:r>
              <a:t>Hypothesis: the merge/abliteration weakens a donor-like refusal-mode setup at assistant start.</a:t>
            </a:r>
          </a:p>
          <a:p>
            <a:pPr>
              <a:spcAft>
                <a:spcPts val="900"/>
              </a:spcAft>
              <a:defRPr sz="1800"/>
            </a:pPr>
            <a:r>
              <a:t>Speculation: prompt harmfulness features may exist, but they are weak causal handles unless response state is set.</a:t>
            </a:r>
          </a:p>
          <a:p>
            <a:pPr>
              <a:spcAft>
                <a:spcPts val="900"/>
              </a:spcAft>
              <a:defRPr sz="1800"/>
            </a:pPr>
            <a:r>
              <a:t>Caveat: current filter changes feature selection; it does not yet prove the runtime patch 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The caveat is why the next experiment is position-restricted patching.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Next decisive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Use the same successful all-token selected features.</a:t>
            </a:r>
          </a:p>
          <a:p>
            <a:pPr>
              <a:spcAft>
                <a:spcPts val="900"/>
              </a:spcAft>
              <a:defRPr sz="1800"/>
            </a:pPr>
            <a:r>
              <a:t>Patch only assistant-boundary positions, only content positions, and all positions.</a:t>
            </a:r>
          </a:p>
          <a:p>
            <a:pPr>
              <a:spcAft>
                <a:spcPts val="900"/>
              </a:spcAft>
              <a:defRPr sz="1800"/>
            </a:pPr>
            <a:r>
              <a:t>If boundary-only works and content-only fails, the paper claim becomes response-boundary state transfer.</a:t>
            </a:r>
          </a:p>
          <a:p>
            <a:pPr>
              <a:spcAft>
                <a:spcPts val="900"/>
              </a:spcAft>
              <a:defRPr sz="1800"/>
            </a:pPr>
            <a:r>
              <a:t>If content-only works, the current audit was misleading and semantic prompt features remain viable.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This is the highest-value next branch before broader sweeps.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Finding memo: stage3/results/GEMMA2_2B_GEMMASCOPE_MLP_SAE_BOUNDARY_VS_CONTENT_FINDINGS.md</a:t>
            </a:r>
          </a:p>
          <a:p>
            <a:pPr>
              <a:spcAft>
                <a:spcPts val="900"/>
              </a:spcAft>
              <a:defRPr sz="1800"/>
            </a:pPr>
            <a:r>
              <a:t>Source metrics: data/all_token_random_seed_metrics.csv and data/content_token_random_seed_metrics.csv</a:t>
            </a:r>
          </a:p>
          <a:p>
            <a:pPr>
              <a:spcAft>
                <a:spcPts val="900"/>
              </a:spcAft>
              <a:defRPr sz="1800"/>
            </a:pPr>
            <a:r>
              <a:t>Source events: data/all_token_feature_events.jsonl and data/content_token_feature_events.jsonl</a:t>
            </a:r>
          </a:p>
          <a:p>
            <a:pPr>
              <a:spcAft>
                <a:spcPts val="900"/>
              </a:spcAft>
              <a:defRPr sz="1800"/>
            </a:pPr>
            <a:r>
              <a:t>Generated tables: data/boundary_content_comparison.csv and data/all_token_abs_delta_event_categories.csv</a:t>
            </a:r>
          </a:p>
          <a:p>
            <a:pPr>
              <a:spcAft>
                <a:spcPts val="900"/>
              </a:spcAft>
              <a:defRPr sz="1800"/>
            </a:pPr>
            <a:r>
              <a:t>Deck source: gemmascope_boundary_content_checkpoint.tex and this PPTX package.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37373"/>
                </a:solidFill>
              </a:defRPr>
            </a:pPr>
            <a:r>
              <a:t>All paths above are local to the repository/package.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